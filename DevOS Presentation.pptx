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5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70216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252440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9390336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1036450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195499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509082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89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9559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883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6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8543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8822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776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4009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0793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5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4615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3904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949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6905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4004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448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6096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7173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768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9688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6473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956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4743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9012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4793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74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7269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773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94951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361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172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635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303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028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406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5577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4008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0905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383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9575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50799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7947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6145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7692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057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1292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3447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404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129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5360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1506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01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0712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469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875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1641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8485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24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3258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676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942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35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3853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15907515" name="Text 0"/>
          <p:cNvSpPr/>
          <p:nvPr/>
        </p:nvSpPr>
        <p:spPr bwMode="auto">
          <a:xfrm>
            <a:off x="3616200" y="1351620"/>
            <a:ext cx="19116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  <a:defRPr/>
            </a:pPr>
            <a:r>
              <a:rPr lang="en-US" sz="45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DevOS</a:t>
            </a:r>
            <a:endParaRPr lang="en-US" sz="4500"/>
          </a:p>
        </p:txBody>
      </p:sp>
      <p:sp>
        <p:nvSpPr>
          <p:cNvPr id="1579882916" name="Text 1"/>
          <p:cNvSpPr/>
          <p:nvPr/>
        </p:nvSpPr>
        <p:spPr bwMode="auto">
          <a:xfrm>
            <a:off x="2196333" y="2189783"/>
            <a:ext cx="475133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  <a:defRPr/>
            </a:pPr>
            <a:r>
              <a:rPr lang="en-US" sz="1800">
                <a:solidFill>
                  <a:srgbClr val="06B6D4"/>
                </a:solidFill>
                <a:latin typeface="Arial"/>
                <a:ea typeface="Arial"/>
                <a:cs typeface="Arial"/>
              </a:rPr>
              <a:t>Операционная Система для Разработчиков</a:t>
            </a:r>
            <a:endParaRPr lang="en-US" sz="1800"/>
          </a:p>
        </p:txBody>
      </p:sp>
      <p:sp>
        <p:nvSpPr>
          <p:cNvPr id="100578944" name="Text 2"/>
          <p:cNvSpPr/>
          <p:nvPr/>
        </p:nvSpPr>
        <p:spPr bwMode="auto">
          <a:xfrm>
            <a:off x="2941505" y="3605026"/>
            <a:ext cx="3260879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  <a:defRPr/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  <a:cs typeface="Arial"/>
              </a:rPr>
              <a:t>Industry 4.0 Ready • Developer First • Security Always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993362" name="Text 0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Проблемы Разработчиков</a:t>
            </a:r>
            <a:endParaRPr lang="en-US" sz="2700"/>
          </a:p>
        </p:txBody>
      </p:sp>
      <p:sp>
        <p:nvSpPr>
          <p:cNvPr id="1976641871" name="Text 1"/>
          <p:cNvSpPr/>
          <p:nvPr/>
        </p:nvSpPr>
        <p:spPr bwMode="auto">
          <a:xfrm>
            <a:off x="609562" y="1249597"/>
            <a:ext cx="7620149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Нестабильн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ое 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окружение (зависимости от версий ОС)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Сложная настройка инструментов и workflows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Нарушение безопасности перед деплоем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Ручная работа, которую можно автоматизировать</a:t>
            </a:r>
            <a:endParaRPr lang="en-US" sz="1350"/>
          </a:p>
        </p:txBody>
      </p:sp>
      <p:pic>
        <p:nvPicPr>
          <p:cNvPr id="17364001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18666" y="2826580"/>
            <a:ext cx="3633018" cy="2075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4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" dur="500"/>
                                        <p:tgtEl>
                                          <p:spTgt spid="197664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897384" name="Text 0"/>
          <p:cNvSpPr/>
          <p:nvPr/>
        </p:nvSpPr>
        <p:spPr bwMode="auto">
          <a:xfrm>
            <a:off x="609563" y="1249598"/>
            <a:ext cx="7924874" cy="1191444"/>
          </a:xfrm>
          <a:prstGeom prst="rect">
            <a:avLst/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621542237" name="Text 1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Решение: DevOS — ОС для DevSecOps</a:t>
            </a:r>
            <a:endParaRPr lang="en-US" sz="2700"/>
          </a:p>
        </p:txBody>
      </p:sp>
      <p:sp>
        <p:nvSpPr>
          <p:cNvPr id="905638404" name="Text 2"/>
          <p:cNvSpPr/>
          <p:nvPr/>
        </p:nvSpPr>
        <p:spPr bwMode="auto">
          <a:xfrm>
            <a:off x="845307" y="1485342"/>
            <a:ext cx="7453387" cy="719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DevOS — это </a:t>
            </a: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полнофункциональная операционная система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, созданная на базе Fedora Linux, специально оптимизированная для разработчиков, DevOps инженеров и специалистов по безопасности.</a:t>
            </a:r>
            <a:endParaRPr lang="en-US" sz="1350"/>
          </a:p>
        </p:txBody>
      </p:sp>
      <p:sp>
        <p:nvSpPr>
          <p:cNvPr id="387645426" name="Text 3"/>
          <p:cNvSpPr/>
          <p:nvPr/>
        </p:nvSpPr>
        <p:spPr bwMode="auto">
          <a:xfrm>
            <a:off x="609563" y="2669642"/>
            <a:ext cx="792487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9 встроенных утилит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автоматизируют весь цикл разработки: от анализа проекта до мониторинга безопасности.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wheel spokes="1"/>
      </p:transition>
    </mc:Choice>
    <mc:Fallback>
      <p:transition spd="med" advClick="1">
        <p:wheel spokes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594388" name="Text 0"/>
          <p:cNvSpPr/>
          <p:nvPr/>
        </p:nvSpPr>
        <p:spPr bwMode="auto">
          <a:xfrm>
            <a:off x="609563" y="1325723"/>
            <a:ext cx="7924874" cy="521605"/>
          </a:xfrm>
          <a:prstGeom prst="roundRect">
            <a:avLst>
              <a:gd name="adj" fmla="val 70122"/>
            </a:avLst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851533492" name="Text 1"/>
          <p:cNvSpPr/>
          <p:nvPr/>
        </p:nvSpPr>
        <p:spPr bwMode="auto">
          <a:xfrm>
            <a:off x="609563" y="1999692"/>
            <a:ext cx="7924874" cy="521605"/>
          </a:xfrm>
          <a:prstGeom prst="roundRect">
            <a:avLst>
              <a:gd name="adj" fmla="val 70122"/>
            </a:avLst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848206102" name="Text 2"/>
          <p:cNvSpPr/>
          <p:nvPr/>
        </p:nvSpPr>
        <p:spPr bwMode="auto">
          <a:xfrm>
            <a:off x="609563" y="2673660"/>
            <a:ext cx="7924874" cy="521605"/>
          </a:xfrm>
          <a:prstGeom prst="roundRect">
            <a:avLst>
              <a:gd name="adj" fmla="val 70122"/>
            </a:avLst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421829292" name="Text 3"/>
          <p:cNvSpPr/>
          <p:nvPr/>
        </p:nvSpPr>
        <p:spPr bwMode="auto">
          <a:xfrm>
            <a:off x="609563" y="3347628"/>
            <a:ext cx="7924874" cy="521605"/>
          </a:xfrm>
          <a:prstGeom prst="roundRect">
            <a:avLst>
              <a:gd name="adj" fmla="val 70122"/>
            </a:avLst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646937677" name="Text 4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Архитектура DevOS</a:t>
            </a:r>
            <a:endParaRPr lang="en-US" sz="2700"/>
          </a:p>
        </p:txBody>
      </p:sp>
      <p:sp>
        <p:nvSpPr>
          <p:cNvPr id="550089803" name="Text 5"/>
          <p:cNvSpPr/>
          <p:nvPr/>
        </p:nvSpPr>
        <p:spPr bwMode="auto">
          <a:xfrm>
            <a:off x="769069" y="1485229"/>
            <a:ext cx="7757979" cy="20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5"/>
              </a:lnSpc>
              <a:buNone/>
              <a:defRPr/>
            </a:pPr>
            <a:r>
              <a:rPr lang="en-US" sz="1150">
                <a:solidFill>
                  <a:srgbClr val="38BDF8"/>
                </a:solidFill>
                <a:latin typeface="Arial"/>
                <a:ea typeface="Arial"/>
                <a:cs typeface="Arial"/>
              </a:rPr>
              <a:t>▶ Ядро:</a:t>
            </a:r>
            <a:r>
              <a:rPr lang="en-US"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 Linux LTS + </a:t>
            </a:r>
            <a:r>
              <a:rPr lang="en-US"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Fedora Linux </a:t>
            </a:r>
            <a:endParaRPr lang="en-US" sz="1150"/>
          </a:p>
        </p:txBody>
      </p:sp>
      <p:sp>
        <p:nvSpPr>
          <p:cNvPr id="1650291532" name="Text 6"/>
          <p:cNvSpPr/>
          <p:nvPr/>
        </p:nvSpPr>
        <p:spPr bwMode="auto">
          <a:xfrm>
            <a:off x="769069" y="2159198"/>
            <a:ext cx="7757979" cy="20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5"/>
              </a:lnSpc>
              <a:buNone/>
              <a:defRPr/>
            </a:pPr>
            <a:r>
              <a:rPr lang="en-US" sz="1150">
                <a:solidFill>
                  <a:srgbClr val="38BDF8"/>
                </a:solidFill>
                <a:latin typeface="Arial"/>
                <a:ea typeface="Arial"/>
                <a:cs typeface="Arial"/>
              </a:rPr>
              <a:t>▶ d-* Toolkit:</a:t>
            </a:r>
            <a:r>
              <a:rPr lang="en-US"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9</a:t>
            </a:r>
            <a:r>
              <a:rPr lang="en-US"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встроенных утилит для </a:t>
            </a:r>
            <a:r>
              <a:rPr lang="ru-RU"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безопасности, автоматизации и управления.</a:t>
            </a:r>
            <a:endParaRPr lang="en-US" sz="1150"/>
          </a:p>
        </p:txBody>
      </p:sp>
      <p:sp>
        <p:nvSpPr>
          <p:cNvPr id="53039432" name="Text 7"/>
          <p:cNvSpPr/>
          <p:nvPr/>
        </p:nvSpPr>
        <p:spPr bwMode="auto">
          <a:xfrm>
            <a:off x="769069" y="2833167"/>
            <a:ext cx="7757979" cy="20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5"/>
              </a:lnSpc>
              <a:buNone/>
              <a:defRPr/>
            </a:pPr>
            <a:r>
              <a:rPr lang="en-US" sz="1150">
                <a:solidFill>
                  <a:srgbClr val="38BDF8"/>
                </a:solidFill>
                <a:latin typeface="Arial"/>
                <a:ea typeface="Arial"/>
                <a:cs typeface="Arial"/>
              </a:rPr>
              <a:t>▶ Контейнеризация:</a:t>
            </a:r>
            <a:r>
              <a:rPr lang="en-US"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 Docker, Kubernetes, GPU support</a:t>
            </a:r>
            <a:endParaRPr lang="en-US" sz="1150"/>
          </a:p>
        </p:txBody>
      </p:sp>
      <p:sp>
        <p:nvSpPr>
          <p:cNvPr id="1499925782" name="Text 8"/>
          <p:cNvSpPr/>
          <p:nvPr/>
        </p:nvSpPr>
        <p:spPr bwMode="auto">
          <a:xfrm>
            <a:off x="769069" y="3507135"/>
            <a:ext cx="7757979" cy="20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5"/>
              </a:lnSpc>
              <a:buNone/>
              <a:defRPr/>
            </a:pPr>
            <a:r>
              <a:rPr lang="en-US" sz="1150">
                <a:solidFill>
                  <a:srgbClr val="38BDF8"/>
                </a:solidFill>
                <a:latin typeface="Arial"/>
                <a:ea typeface="Arial"/>
                <a:cs typeface="Arial"/>
              </a:rPr>
              <a:t>▶ DevSecOps:</a:t>
            </a:r>
            <a:r>
              <a:rPr lang="en-US"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Встроенные security checks в </a:t>
            </a:r>
            <a:r>
              <a:rPr lang="ru-RU"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процессы разработки.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8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50089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0089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0759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0759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29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65029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5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85153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3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3039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3039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30394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303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20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48206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48206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48206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4820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92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999257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9992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9992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2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421829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1829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21829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585458" name="Text 0"/>
          <p:cNvSpPr/>
          <p:nvPr/>
        </p:nvSpPr>
        <p:spPr bwMode="auto">
          <a:xfrm>
            <a:off x="609562" y="2221036"/>
            <a:ext cx="7924874" cy="1015640"/>
          </a:xfrm>
          <a:prstGeom prst="rect">
            <a:avLst/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982623092" name="Text 1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d-env: Анализ Проекта за Секунду</a:t>
            </a:r>
            <a:endParaRPr lang="en-US" sz="2700"/>
          </a:p>
        </p:txBody>
      </p:sp>
      <p:sp>
        <p:nvSpPr>
          <p:cNvPr id="512533961" name="Text 2"/>
          <p:cNvSpPr/>
          <p:nvPr/>
        </p:nvSpPr>
        <p:spPr bwMode="auto">
          <a:xfrm>
            <a:off x="609563" y="1249598"/>
            <a:ext cx="8083372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ru-RU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Язык</a:t>
            </a:r>
            <a:r>
              <a:rPr lang="en-US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: Go</a:t>
            </a:r>
            <a:endParaRPr lang="en-US" sz="1050"/>
          </a:p>
        </p:txBody>
      </p:sp>
      <p:sp>
        <p:nvSpPr>
          <p:cNvPr id="395778675" name="Text 3"/>
          <p:cNvSpPr/>
          <p:nvPr/>
        </p:nvSpPr>
        <p:spPr bwMode="auto">
          <a:xfrm>
            <a:off x="609563" y="1588703"/>
            <a:ext cx="792487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Мгновенный анализ проекта: Git статус, Docker контейнеры, зависимости, структура, поиск секретов</a:t>
            </a:r>
            <a:endParaRPr lang="en-US" sz="1350"/>
          </a:p>
        </p:txBody>
      </p:sp>
      <p:sp>
        <p:nvSpPr>
          <p:cNvPr id="2142642835" name="Text 4"/>
          <p:cNvSpPr/>
          <p:nvPr/>
        </p:nvSpPr>
        <p:spPr bwMode="auto">
          <a:xfrm>
            <a:off x="845307" y="2456780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$ d-env</a:t>
            </a:r>
            <a:endParaRPr lang="en-US" sz="1000"/>
          </a:p>
        </p:txBody>
      </p:sp>
      <p:sp>
        <p:nvSpPr>
          <p:cNvPr id="1709423905" name="Text 5"/>
          <p:cNvSpPr/>
          <p:nvPr/>
        </p:nvSpPr>
        <p:spPr bwMode="auto">
          <a:xfrm>
            <a:off x="845307" y="2638165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🔄 GIT: [main ↑3] | 🐳 Docker: 3/3 running | 📦 Python 3.11</a:t>
            </a:r>
            <a:endParaRPr lang="en-US" sz="1000"/>
          </a:p>
        </p:txBody>
      </p:sp>
      <p:sp>
        <p:nvSpPr>
          <p:cNvPr id="127242548" name="Text 6"/>
          <p:cNvSpPr/>
          <p:nvPr/>
        </p:nvSpPr>
        <p:spPr bwMode="auto">
          <a:xfrm>
            <a:off x="845307" y="2819549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🔒 ✅ No secrets | ⚠️ Dependencies: 45 packages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078075" name="Text 0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d-env: Функции </a:t>
            </a:r>
            <a:endParaRPr lang="en-US" sz="2700"/>
          </a:p>
        </p:txBody>
      </p:sp>
      <p:sp>
        <p:nvSpPr>
          <p:cNvPr id="1457308287" name="Text 1"/>
          <p:cNvSpPr/>
          <p:nvPr/>
        </p:nvSpPr>
        <p:spPr bwMode="auto">
          <a:xfrm>
            <a:off x="914288" y="1249598"/>
            <a:ext cx="7620149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Git Analysis: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Бранч, коммиты, состояние репо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Dependency Detection: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Python, Node.js, Go, Rust, Java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Docker/Kubernetes: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Статус контейнеров и сервисов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Security Check: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Сканирование 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состояния проекта.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896942" name="Text 0"/>
          <p:cNvSpPr/>
          <p:nvPr/>
        </p:nvSpPr>
        <p:spPr bwMode="auto">
          <a:xfrm>
            <a:off x="609563" y="1981051"/>
            <a:ext cx="7924874" cy="1015640"/>
          </a:xfrm>
          <a:prstGeom prst="rect">
            <a:avLst/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509893512" name="Text 1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d-guard: Безопасность Перед Коммитом</a:t>
            </a:r>
            <a:endParaRPr lang="en-US" sz="2700"/>
          </a:p>
        </p:txBody>
      </p:sp>
      <p:sp>
        <p:nvSpPr>
          <p:cNvPr id="869725012" name="Text 2"/>
          <p:cNvSpPr/>
          <p:nvPr/>
        </p:nvSpPr>
        <p:spPr bwMode="auto">
          <a:xfrm>
            <a:off x="609563" y="1249598"/>
            <a:ext cx="8083372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ru-RU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Язык</a:t>
            </a:r>
            <a:r>
              <a:rPr lang="en-US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: Go</a:t>
            </a:r>
            <a:endParaRPr lang="en-US" sz="1050"/>
          </a:p>
        </p:txBody>
      </p:sp>
      <p:sp>
        <p:nvSpPr>
          <p:cNvPr id="918461099" name="Text 3"/>
          <p:cNvSpPr/>
          <p:nvPr/>
        </p:nvSpPr>
        <p:spPr bwMode="auto">
          <a:xfrm>
            <a:off x="609563" y="1588703"/>
            <a:ext cx="80833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Полный security линтер: секреты, уязвимости, SAST, Docker линтинг</a:t>
            </a:r>
            <a:endParaRPr lang="en-US" sz="1350"/>
          </a:p>
        </p:txBody>
      </p:sp>
      <p:sp>
        <p:nvSpPr>
          <p:cNvPr id="1724512904" name="Text 4"/>
          <p:cNvSpPr/>
          <p:nvPr/>
        </p:nvSpPr>
        <p:spPr bwMode="auto">
          <a:xfrm>
            <a:off x="845307" y="2216795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$ d-guard scan --staged --fix</a:t>
            </a:r>
            <a:endParaRPr lang="en-US" sz="1000"/>
          </a:p>
        </p:txBody>
      </p:sp>
      <p:sp>
        <p:nvSpPr>
          <p:cNvPr id="1068025379" name="Text 5"/>
          <p:cNvSpPr/>
          <p:nvPr/>
        </p:nvSpPr>
        <p:spPr bwMode="auto">
          <a:xfrm>
            <a:off x="845307" y="2398179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✅ Secrets: PASS | ⚠️ CVE: 3 HIGH | ✅ SAST: PASS</a:t>
            </a:r>
            <a:endParaRPr lang="en-US" sz="1000"/>
          </a:p>
        </p:txBody>
      </p:sp>
      <p:sp>
        <p:nvSpPr>
          <p:cNvPr id="727613714" name="Text 6"/>
          <p:cNvSpPr/>
          <p:nvPr/>
        </p:nvSpPr>
        <p:spPr bwMode="auto">
          <a:xfrm>
            <a:off x="845307" y="2579563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✔️ Auto-fixed dependencies in requirements.txt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split orient="vert" dir="in"/>
      </p:transition>
    </mc:Choice>
    <mc:Fallback>
      <p:transition spd="med" advClick="1">
        <p:split orient="vert" dir="in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209785" name="Text 0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d-guard: DevSecOps </a:t>
            </a:r>
            <a:r>
              <a:rPr lang="ru-RU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утилита</a:t>
            </a:r>
            <a:endParaRPr lang="en-US" sz="2700"/>
          </a:p>
        </p:txBody>
      </p:sp>
      <p:sp>
        <p:nvSpPr>
          <p:cNvPr id="1732504603" name="Text 1"/>
          <p:cNvSpPr/>
          <p:nvPr/>
        </p:nvSpPr>
        <p:spPr bwMode="auto">
          <a:xfrm>
            <a:off x="914288" y="1249598"/>
            <a:ext cx="7620149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Secrets Scanning: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gitleaks интеграция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Dependency Vulnerabilities: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trivy, osv-scanner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SAST Analysis: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semgrep для обнаружения уязвимостей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Auto-fix Mode: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Автоматическое исправление проблем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split orient="vert" dir="in"/>
      </p:transition>
    </mc:Choice>
    <mc:Fallback>
      <p:transition spd="med" advClick="1">
        <p:split orient="vert" dir="in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48820" name="Text 0"/>
          <p:cNvSpPr/>
          <p:nvPr/>
        </p:nvSpPr>
        <p:spPr bwMode="auto">
          <a:xfrm>
            <a:off x="609563" y="1981051"/>
            <a:ext cx="7924874" cy="1015640"/>
          </a:xfrm>
          <a:prstGeom prst="rect">
            <a:avLst/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228710045" name="Text 1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d-ci: Мониторинг CI/CD Пайплайнов</a:t>
            </a:r>
            <a:endParaRPr lang="en-US" sz="2700"/>
          </a:p>
        </p:txBody>
      </p:sp>
      <p:sp>
        <p:nvSpPr>
          <p:cNvPr id="1384616176" name="Text 2"/>
          <p:cNvSpPr/>
          <p:nvPr/>
        </p:nvSpPr>
        <p:spPr bwMode="auto">
          <a:xfrm>
            <a:off x="609563" y="1249598"/>
            <a:ext cx="8083372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ru-RU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Язык</a:t>
            </a:r>
            <a:r>
              <a:rPr lang="en-US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: Go</a:t>
            </a:r>
            <a:endParaRPr lang="en-US" sz="1050"/>
          </a:p>
        </p:txBody>
      </p:sp>
      <p:sp>
        <p:nvSpPr>
          <p:cNvPr id="750772057" name="Text 3"/>
          <p:cNvSpPr/>
          <p:nvPr/>
        </p:nvSpPr>
        <p:spPr bwMode="auto">
          <a:xfrm>
            <a:off x="609563" y="1588703"/>
            <a:ext cx="80833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Real-time мониторинг GitLab, GitHub, Jenkins пайплайнов из терминала</a:t>
            </a:r>
            <a:endParaRPr lang="en-US" sz="1350"/>
          </a:p>
        </p:txBody>
      </p:sp>
      <p:sp>
        <p:nvSpPr>
          <p:cNvPr id="303082881" name="Text 4"/>
          <p:cNvSpPr/>
          <p:nvPr/>
        </p:nvSpPr>
        <p:spPr bwMode="auto">
          <a:xfrm>
            <a:off x="845307" y="2216795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$ d-ci view --refresh 10</a:t>
            </a:r>
            <a:endParaRPr lang="en-US" sz="1000"/>
          </a:p>
        </p:txBody>
      </p:sp>
      <p:sp>
        <p:nvSpPr>
          <p:cNvPr id="284583002" name="Text 5"/>
          <p:cNvSpPr/>
          <p:nvPr/>
        </p:nvSpPr>
        <p:spPr bwMode="auto">
          <a:xfrm>
            <a:off x="845307" y="2398179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main (#1234) ✅ | dev (#1233) ⏳ | feat-x ❌</a:t>
            </a:r>
            <a:endParaRPr lang="en-US" sz="1000"/>
          </a:p>
        </p:txBody>
      </p:sp>
      <p:sp>
        <p:nvSpPr>
          <p:cNvPr id="1685262781" name="Text 6"/>
          <p:cNvSpPr/>
          <p:nvPr/>
        </p:nvSpPr>
        <p:spPr bwMode="auto">
          <a:xfrm>
            <a:off x="845307" y="2579563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compile ✅ 4.2s | test ✅ 45.6s | deploy ⏳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split orient="horz" dir="out"/>
      </p:transition>
    </mc:Choice>
    <mc:Fallback>
      <p:transition spd="med" advClick="1">
        <p:split orient="horz" dir="ou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385322" name="Text 0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d-ci: CI/CD Control Plane</a:t>
            </a:r>
            <a:endParaRPr lang="en-US" sz="2700"/>
          </a:p>
        </p:txBody>
      </p:sp>
      <p:sp>
        <p:nvSpPr>
          <p:cNvPr id="1319405360" name="Text 1"/>
          <p:cNvSpPr/>
          <p:nvPr/>
        </p:nvSpPr>
        <p:spPr bwMode="auto">
          <a:xfrm>
            <a:off x="914288" y="1249598"/>
            <a:ext cx="7620149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Multi-Provider: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GitLab, GitHub поддержка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TUI Interface: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Real-time обновления, 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функциональный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вывод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Pipeline Control: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Запуск, перезапуск, просмотр логов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Webhook Alerts: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Мгновенные уведомления о результатах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split orient="horz" dir="out"/>
      </p:transition>
    </mc:Choice>
    <mc:Fallback>
      <p:transition spd="med" advClick="1">
        <p:split orient="horz" dir="ou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787984" name="Text 0"/>
          <p:cNvSpPr/>
          <p:nvPr/>
        </p:nvSpPr>
        <p:spPr bwMode="auto">
          <a:xfrm>
            <a:off x="609563" y="1981051"/>
            <a:ext cx="7924874" cy="1015640"/>
          </a:xfrm>
          <a:prstGeom prst="rect">
            <a:avLst/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717329704" name="Text 1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d-recon: Сканирование Целей</a:t>
            </a:r>
            <a:endParaRPr lang="en-US" sz="2700"/>
          </a:p>
        </p:txBody>
      </p:sp>
      <p:sp>
        <p:nvSpPr>
          <p:cNvPr id="854445408" name="Text 2"/>
          <p:cNvSpPr/>
          <p:nvPr/>
        </p:nvSpPr>
        <p:spPr bwMode="auto">
          <a:xfrm>
            <a:off x="609563" y="1249598"/>
            <a:ext cx="8083372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en-US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АРХИТЕКТУРА: Go</a:t>
            </a:r>
            <a:endParaRPr lang="en-US" sz="1050"/>
          </a:p>
        </p:txBody>
      </p:sp>
      <p:sp>
        <p:nvSpPr>
          <p:cNvPr id="447975857" name="Text 3"/>
          <p:cNvSpPr/>
          <p:nvPr/>
        </p:nvSpPr>
        <p:spPr bwMode="auto">
          <a:xfrm>
            <a:off x="609563" y="1588703"/>
            <a:ext cx="80833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Полное сканирование с одной команды: поддомены, порты, уязвимости, OSINT</a:t>
            </a:r>
            <a:endParaRPr lang="en-US" sz="1350"/>
          </a:p>
        </p:txBody>
      </p:sp>
      <p:sp>
        <p:nvSpPr>
          <p:cNvPr id="705760873" name="Text 4"/>
          <p:cNvSpPr/>
          <p:nvPr/>
        </p:nvSpPr>
        <p:spPr bwMode="auto">
          <a:xfrm>
            <a:off x="845307" y="2216795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$ d-recon -t example.com --profile full</a:t>
            </a:r>
            <a:endParaRPr lang="en-US" sz="1000"/>
          </a:p>
        </p:txBody>
      </p:sp>
      <p:sp>
        <p:nvSpPr>
          <p:cNvPr id="1292153991" name="Text 5"/>
          <p:cNvSpPr/>
          <p:nvPr/>
        </p:nvSpPr>
        <p:spPr bwMode="auto">
          <a:xfrm>
            <a:off x="845307" y="2398179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Subdomains: 12 | Ports: 4 open | Vulns: 2 found</a:t>
            </a:r>
            <a:endParaRPr lang="en-US" sz="1000"/>
          </a:p>
        </p:txBody>
      </p:sp>
      <p:sp>
        <p:nvSpPr>
          <p:cNvPr id="1229783207" name="Text 6"/>
          <p:cNvSpPr/>
          <p:nvPr/>
        </p:nvSpPr>
        <p:spPr bwMode="auto">
          <a:xfrm>
            <a:off x="845307" y="2579563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Report saved: report.html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wedge/>
      </p:transition>
    </mc:Choice>
    <mc:Fallback>
      <p:transition spd="med" advClick="1">
        <p:wedg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224910" name="Text 0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d-recon: Multi-Engine Orchestrator</a:t>
            </a:r>
            <a:endParaRPr lang="en-US" sz="2700"/>
          </a:p>
        </p:txBody>
      </p:sp>
      <p:sp>
        <p:nvSpPr>
          <p:cNvPr id="450892529" name="Text 1"/>
          <p:cNvSpPr/>
          <p:nvPr/>
        </p:nvSpPr>
        <p:spPr bwMode="auto">
          <a:xfrm>
            <a:off x="914288" y="1249598"/>
            <a:ext cx="7620149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Parallel Scanning: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Nmap, subfinder, bbot, массивное распараллеливание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Result Aggregation: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Единая база данных результатов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Profiles: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stealth, quick, full конфигурации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wedge/>
      </p:transition>
    </mc:Choice>
    <mc:Fallback>
      <p:transition spd="med" advClick="1">
        <p:wedg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055929" name="Text 0"/>
          <p:cNvSpPr/>
          <p:nvPr/>
        </p:nvSpPr>
        <p:spPr bwMode="auto">
          <a:xfrm>
            <a:off x="609563" y="1981051"/>
            <a:ext cx="7924874" cy="1015640"/>
          </a:xfrm>
          <a:prstGeom prst="rect">
            <a:avLst/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912909149" name="Text 1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d-top: Мониторинг Инфраструктуры</a:t>
            </a:r>
            <a:endParaRPr lang="en-US" sz="2700"/>
          </a:p>
        </p:txBody>
      </p:sp>
      <p:sp>
        <p:nvSpPr>
          <p:cNvPr id="67880221" name="Text 2"/>
          <p:cNvSpPr/>
          <p:nvPr/>
        </p:nvSpPr>
        <p:spPr bwMode="auto">
          <a:xfrm>
            <a:off x="609563" y="1249598"/>
            <a:ext cx="8083372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ru-RU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Язык</a:t>
            </a:r>
            <a:r>
              <a:rPr lang="en-US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: Golang </a:t>
            </a:r>
            <a:endParaRPr lang="en-US" sz="1050"/>
          </a:p>
        </p:txBody>
      </p:sp>
      <p:sp>
        <p:nvSpPr>
          <p:cNvPr id="1253158750" name="Text 3"/>
          <p:cNvSpPr/>
          <p:nvPr/>
        </p:nvSpPr>
        <p:spPr bwMode="auto">
          <a:xfrm>
            <a:off x="609563" y="1588703"/>
            <a:ext cx="80833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Red Team + инфраструктура: мониторинг процессов, сокетов, скрытого трафика</a:t>
            </a:r>
            <a:endParaRPr lang="en-US" sz="1350"/>
          </a:p>
        </p:txBody>
      </p:sp>
      <p:sp>
        <p:nvSpPr>
          <p:cNvPr id="2129606235" name="Text 4"/>
          <p:cNvSpPr/>
          <p:nvPr/>
        </p:nvSpPr>
        <p:spPr bwMode="auto">
          <a:xfrm>
            <a:off x="845307" y="2216795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$ d-top</a:t>
            </a:r>
            <a:endParaRPr lang="en-US" sz="1000"/>
          </a:p>
        </p:txBody>
      </p:sp>
      <p:sp>
        <p:nvSpPr>
          <p:cNvPr id="1326987394" name="Text 5"/>
          <p:cNvSpPr/>
          <p:nvPr/>
        </p:nvSpPr>
        <p:spPr bwMode="auto">
          <a:xfrm>
            <a:off x="845307" y="2398179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CPU: 45% | RAM: 62% | Processes: 142 | Open Ports: 8</a:t>
            </a:r>
            <a:endParaRPr lang="en-US" sz="1000"/>
          </a:p>
        </p:txBody>
      </p:sp>
      <p:sp>
        <p:nvSpPr>
          <p:cNvPr id="1542536070" name="Text 6"/>
          <p:cNvSpPr/>
          <p:nvPr/>
        </p:nvSpPr>
        <p:spPr bwMode="auto">
          <a:xfrm>
            <a:off x="845307" y="2579563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Suspicious: nginx (PID 1234) listening on 8.8.8.8:443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4:warp dir="in"/>
      </p:transition>
    </mc:Choice>
    <mc:Fallback>
      <p:transition spd="med" advClick="1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556544" name="Text 0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d-top: System &amp; Security Intelligence</a:t>
            </a:r>
            <a:endParaRPr lang="en-US" sz="2700"/>
          </a:p>
        </p:txBody>
      </p:sp>
      <p:sp>
        <p:nvSpPr>
          <p:cNvPr id="12093721" name="Text 1"/>
          <p:cNvSpPr/>
          <p:nvPr/>
        </p:nvSpPr>
        <p:spPr bwMode="auto">
          <a:xfrm>
            <a:off x="914288" y="1249598"/>
            <a:ext cx="7620149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Local Monitor: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CPU, RAM, I/O, сокеты каждого процесса</a:t>
            </a:r>
            <a:endParaRPr lang="en-US" sz="1350"/>
          </a:p>
          <a:p>
            <a:pPr marL="0" marR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 spc="0">
                <a:solidFill>
                  <a:srgbClr val="38BDF8"/>
                </a:solidFill>
                <a:latin typeface="Arial"/>
                <a:ea typeface="Arial"/>
                <a:cs typeface="Arial"/>
              </a:rPr>
              <a:t>Remote Monitor: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А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налогичный для подключаемого устройства.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Red Team Mode: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«Тихое» убийство процесса, незаметность, 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zombie и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fork bomb exploits.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Docker View: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Визуализация Docker 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и взаимодействие с контейнерами.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4:warp dir="in"/>
      </p:transition>
    </mc:Choice>
    <mc:Fallback>
      <p:transition spd="med" advClick="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114612" name="Text 0"/>
          <p:cNvSpPr/>
          <p:nvPr/>
        </p:nvSpPr>
        <p:spPr bwMode="auto">
          <a:xfrm>
            <a:off x="609563" y="1981051"/>
            <a:ext cx="7924874" cy="1015640"/>
          </a:xfrm>
          <a:prstGeom prst="rect">
            <a:avLst/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785579203" name="Text 1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d-shark: Анализ Сети &amp; Фаервол</a:t>
            </a:r>
            <a:endParaRPr lang="en-US" sz="2700"/>
          </a:p>
        </p:txBody>
      </p:sp>
      <p:sp>
        <p:nvSpPr>
          <p:cNvPr id="977898217" name="Text 2"/>
          <p:cNvSpPr/>
          <p:nvPr/>
        </p:nvSpPr>
        <p:spPr bwMode="auto">
          <a:xfrm>
            <a:off x="604848" y="1249597"/>
            <a:ext cx="8083372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ru-RU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Язык</a:t>
            </a:r>
            <a:r>
              <a:rPr lang="en-US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: Rust </a:t>
            </a:r>
            <a:endParaRPr lang="en-US" sz="1050"/>
          </a:p>
        </p:txBody>
      </p:sp>
      <p:sp>
        <p:nvSpPr>
          <p:cNvPr id="199038833" name="Text 3"/>
          <p:cNvSpPr/>
          <p:nvPr/>
        </p:nvSpPr>
        <p:spPr bwMode="auto">
          <a:xfrm>
            <a:off x="609563" y="1588703"/>
            <a:ext cx="80833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Real-time захват и анализ трафика</a:t>
            </a:r>
            <a:r>
              <a:rPr lang="en-US" sz="1350" b="0" i="0" u="none" strike="noStrike" cap="none" spc="0">
                <a:solidFill>
                  <a:srgbClr val="CBD5E1"/>
                </a:solidFill>
                <a:latin typeface="Arial"/>
                <a:ea typeface="Arial"/>
                <a:cs typeface="Arial"/>
              </a:rPr>
              <a:t>(L2-L</a:t>
            </a:r>
            <a:r>
              <a:rPr lang="ru-RU" sz="1350" b="0" i="0" u="none" strike="noStrike" cap="none" spc="0">
                <a:solidFill>
                  <a:srgbClr val="CBD5E1"/>
                </a:solidFill>
                <a:latin typeface="Arial"/>
                <a:ea typeface="Arial"/>
                <a:cs typeface="Arial"/>
              </a:rPr>
              <a:t>5</a:t>
            </a:r>
            <a:r>
              <a:rPr lang="en-US" sz="1350" b="0" i="0" u="none" strike="noStrike" cap="none" spc="0">
                <a:solidFill>
                  <a:srgbClr val="CBD5E1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с динамическим фаерволом </a:t>
            </a:r>
            <a:endParaRPr lang="en-US" sz="1350"/>
          </a:p>
        </p:txBody>
      </p:sp>
      <p:sp>
        <p:nvSpPr>
          <p:cNvPr id="399614602" name="Text 4"/>
          <p:cNvSpPr/>
          <p:nvPr/>
        </p:nvSpPr>
        <p:spPr bwMode="auto">
          <a:xfrm>
            <a:off x="845307" y="2216795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$ sudo d-shark capture eth0 --firewall</a:t>
            </a:r>
            <a:endParaRPr lang="en-US" sz="1000"/>
          </a:p>
        </p:txBody>
      </p:sp>
      <p:sp>
        <p:nvSpPr>
          <p:cNvPr id="1005546366" name="Text 5"/>
          <p:cNvSpPr/>
          <p:nvPr/>
        </p:nvSpPr>
        <p:spPr bwMode="auto">
          <a:xfrm>
            <a:off x="845307" y="2398179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In: 1.2 MB/s | Out: 0.8 MB/s | Threats: 2 detected</a:t>
            </a:r>
            <a:endParaRPr lang="en-US" sz="1000"/>
          </a:p>
        </p:txBody>
      </p:sp>
      <p:sp>
        <p:nvSpPr>
          <p:cNvPr id="1329323816" name="Text 6"/>
          <p:cNvSpPr/>
          <p:nvPr/>
        </p:nvSpPr>
        <p:spPr bwMode="auto">
          <a:xfrm>
            <a:off x="845307" y="2579563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Rules: 24 active | Blocked: 12 connections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push dir="r"/>
      </p:transition>
    </mc:Choice>
    <mc:Fallback>
      <p:transition spd="med" advClick="1">
        <p:push dir="r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870775" name="Text 0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d-shark: Network Defense Layer</a:t>
            </a:r>
            <a:endParaRPr lang="en-US" sz="2700"/>
          </a:p>
        </p:txBody>
      </p:sp>
      <p:sp>
        <p:nvSpPr>
          <p:cNvPr id="86113706" name="Text 1"/>
          <p:cNvSpPr/>
          <p:nvPr/>
        </p:nvSpPr>
        <p:spPr bwMode="auto">
          <a:xfrm>
            <a:off x="914288" y="1249598"/>
            <a:ext cx="7620149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Packet Analysis: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L2-L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5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протоколы, DPI (Deep Packet Inspection)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Dynamic Firewall: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nftables/iptables интеграция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Threat Detection: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Автоматическое блокирование опасного трафика</a:t>
            </a:r>
            <a:endParaRPr lang="en-US" sz="1350"/>
          </a:p>
          <a:p>
            <a:pPr marL="0" marR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Stratoshark: </a:t>
            </a:r>
            <a:r>
              <a:rPr lang="en-US" sz="135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Связь пакетов с системными процессами</a:t>
            </a:r>
            <a:endParaRPr sz="135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push dir="r"/>
      </p:transition>
    </mc:Choice>
    <mc:Fallback>
      <p:transition spd="med" advClick="1">
        <p:push dir="r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752507" name="Text 0"/>
          <p:cNvSpPr/>
          <p:nvPr/>
        </p:nvSpPr>
        <p:spPr bwMode="auto">
          <a:xfrm>
            <a:off x="609563" y="1981051"/>
            <a:ext cx="7924874" cy="1015640"/>
          </a:xfrm>
          <a:prstGeom prst="rect">
            <a:avLst/>
          </a:prstGeom>
          <a:noFill/>
          <a:ln w="7144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207678363" name="Text 1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d-crypt: Шифрование Проектов</a:t>
            </a:r>
            <a:endParaRPr lang="en-US" sz="2700"/>
          </a:p>
        </p:txBody>
      </p:sp>
      <p:sp>
        <p:nvSpPr>
          <p:cNvPr id="556119395" name="Text 2"/>
          <p:cNvSpPr/>
          <p:nvPr/>
        </p:nvSpPr>
        <p:spPr bwMode="auto">
          <a:xfrm>
            <a:off x="609563" y="1249598"/>
            <a:ext cx="8083372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ru-RU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Язык</a:t>
            </a:r>
            <a:r>
              <a:rPr lang="en-US"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: Rust </a:t>
            </a:r>
            <a:endParaRPr lang="en-US" sz="1050"/>
          </a:p>
        </p:txBody>
      </p:sp>
      <p:sp>
        <p:nvSpPr>
          <p:cNvPr id="257950934" name="Text 3"/>
          <p:cNvSpPr/>
          <p:nvPr/>
        </p:nvSpPr>
        <p:spPr bwMode="auto">
          <a:xfrm>
            <a:off x="609563" y="1588703"/>
            <a:ext cx="80833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Встроенное шифрование с Shamir Secret Sharing: разделение ключей между USB ключами</a:t>
            </a:r>
            <a:endParaRPr lang="en-US" sz="1350"/>
          </a:p>
        </p:txBody>
      </p:sp>
      <p:sp>
        <p:nvSpPr>
          <p:cNvPr id="1027397482" name="Text 4"/>
          <p:cNvSpPr/>
          <p:nvPr/>
        </p:nvSpPr>
        <p:spPr bwMode="auto">
          <a:xfrm>
            <a:off x="845307" y="2216795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$ d-crypt encrypt project/ --keys 3 --threshold 2</a:t>
            </a:r>
            <a:endParaRPr lang="en-US" sz="1000"/>
          </a:p>
        </p:txBody>
      </p:sp>
      <p:sp>
        <p:nvSpPr>
          <p:cNvPr id="338965684" name="Text 5"/>
          <p:cNvSpPr/>
          <p:nvPr/>
        </p:nvSpPr>
        <p:spPr bwMode="auto">
          <a:xfrm>
            <a:off x="845307" y="2398179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✔️ Project encrypted (AES-256-GCM)</a:t>
            </a:r>
            <a:endParaRPr lang="en-US" sz="1000"/>
          </a:p>
        </p:txBody>
      </p:sp>
      <p:sp>
        <p:nvSpPr>
          <p:cNvPr id="62641795" name="Text 6"/>
          <p:cNvSpPr/>
          <p:nvPr/>
        </p:nvSpPr>
        <p:spPr bwMode="auto">
          <a:xfrm>
            <a:off x="845307" y="2579563"/>
            <a:ext cx="7602455" cy="18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💾 Key shards written to 3 USB devices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pull dir="r"/>
      </p:transition>
    </mc:Choice>
    <mc:Fallback>
      <p:transition spd="med" advClick="1">
        <p:pull dir="r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408311" name="Text 0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d-crypt: Cryptographic Key Management</a:t>
            </a:r>
            <a:endParaRPr lang="en-US" sz="2700"/>
          </a:p>
        </p:txBody>
      </p:sp>
      <p:sp>
        <p:nvSpPr>
          <p:cNvPr id="116806812" name="Text 1"/>
          <p:cNvSpPr/>
          <p:nvPr/>
        </p:nvSpPr>
        <p:spPr bwMode="auto">
          <a:xfrm>
            <a:off x="914288" y="1249598"/>
            <a:ext cx="7620149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AES-256-GCM: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Высокостойкое шифрование проектов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Shamir Sharing: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Разделение ключа на N частей (M необходимо)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Audit Ledger: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Логирование всех операций с ключами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USB Key Binding: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Ключи хранятся на физических USB-ключах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pull dir="r"/>
      </p:transition>
    </mc:Choice>
    <mc:Fallback>
      <p:transition spd="med" advClick="1">
        <p:pull dir="r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62776" name="Text 0"/>
          <p:cNvSpPr/>
          <p:nvPr/>
        </p:nvSpPr>
        <p:spPr bwMode="auto"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Почему DevOS?</a:t>
            </a:r>
            <a:endParaRPr lang="en-US" sz="2700"/>
          </a:p>
        </p:txBody>
      </p:sp>
      <p:sp>
        <p:nvSpPr>
          <p:cNvPr id="638280903" name="Text 1"/>
          <p:cNvSpPr/>
          <p:nvPr/>
        </p:nvSpPr>
        <p:spPr bwMode="auto">
          <a:xfrm>
            <a:off x="914288" y="1249598"/>
            <a:ext cx="7620149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Полная ОС: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Не просто набор утилит, а полнофункциональная система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DevSecOps Встроен: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Безопасность в 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процессах разработки по умолчанию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Автоматизация: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9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мощных утилит покрывают весь цикл разработки</a:t>
            </a:r>
            <a:endParaRPr lang="en-US" sz="1350"/>
          </a:p>
          <a:p>
            <a:pPr marL="0" indent="0">
              <a:lnSpc>
                <a:spcPts val="2430"/>
              </a:lnSpc>
              <a:buNone/>
              <a:defRPr/>
            </a:pPr>
            <a:r>
              <a:rPr lang="en-US"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Производительность:</a:t>
            </a: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 Оптимизирована для разработки и deployment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204423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95126263" name="Text 0"/>
          <p:cNvSpPr/>
          <p:nvPr/>
        </p:nvSpPr>
        <p:spPr bwMode="auto">
          <a:xfrm>
            <a:off x="4053853" y="2011747"/>
            <a:ext cx="103629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  <a:defRPr/>
            </a:pPr>
            <a:r>
              <a:rPr lang="en-US" sz="36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Q&amp;A</a:t>
            </a:r>
            <a:endParaRPr lang="en-US" sz="3600"/>
          </a:p>
        </p:txBody>
      </p:sp>
      <p:sp>
        <p:nvSpPr>
          <p:cNvPr id="1497330183" name="Text 1"/>
          <p:cNvSpPr/>
          <p:nvPr/>
        </p:nvSpPr>
        <p:spPr bwMode="auto">
          <a:xfrm>
            <a:off x="4120117" y="2865089"/>
            <a:ext cx="903655" cy="266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CBD5E1"/>
                </a:solidFill>
                <a:latin typeface="Arial"/>
                <a:ea typeface="Arial"/>
                <a:cs typeface="Arial"/>
              </a:rPr>
              <a:t>Вопросы?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023222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12262402" name="Text 0"/>
          <p:cNvSpPr/>
          <p:nvPr/>
        </p:nvSpPr>
        <p:spPr bwMode="auto">
          <a:xfrm>
            <a:off x="1913179" y="1629780"/>
            <a:ext cx="531764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DevOS — Будущее Разработки</a:t>
            </a:r>
            <a:endParaRPr lang="en-US" sz="2700"/>
          </a:p>
        </p:txBody>
      </p:sp>
      <p:sp>
        <p:nvSpPr>
          <p:cNvPr id="1743834649" name="Text 2"/>
          <p:cNvSpPr/>
          <p:nvPr/>
        </p:nvSpPr>
        <p:spPr bwMode="auto">
          <a:xfrm>
            <a:off x="2941505" y="3326978"/>
            <a:ext cx="3260879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  <a:defRPr/>
            </a:pP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4:warp dir="in"/>
      </p:transition>
    </mc:Choice>
    <mc:Fallback>
      <p:transition spd="med" advClick="1">
        <p:fade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Perplexity 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/>
  <cp:revision>2</cp:revision>
  <dcterms:created xsi:type="dcterms:W3CDTF">2025-12-14T20:59:07Z</dcterms:created>
  <dcterms:modified xsi:type="dcterms:W3CDTF">2025-12-14T21:16:16Z</dcterms:modified>
</cp:coreProperties>
</file>